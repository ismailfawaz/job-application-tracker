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ptos Bold" charset="1" panose="020B0004020202020204"/>
      <p:regular r:id="rId13"/>
    </p:embeddedFont>
    <p:embeddedFont>
      <p:font typeface="Aptos" charset="1" panose="020B0004020202020204"/>
      <p:regular r:id="rId14"/>
    </p:embeddedFont>
    <p:embeddedFont>
      <p:font typeface="Aptos Italics" charset="1" panose="020B000402020209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7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43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85062" y="1057313"/>
            <a:ext cx="888579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0C882"/>
                </a:solidFill>
                <a:latin typeface="Aptos Bold"/>
                <a:ea typeface="Aptos Bold"/>
                <a:cs typeface="Aptos Bold"/>
                <a:sym typeface="Aptos Bold"/>
              </a:rPr>
              <a:t>WEB PROGRAMMING  |  CS23531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876" y="2077298"/>
            <a:ext cx="12985629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Job Application </a:t>
            </a:r>
          </a:p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Tracker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5062" y="5303072"/>
            <a:ext cx="916032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CFDCDC"/>
                </a:solidFill>
                <a:latin typeface="Aptos"/>
                <a:ea typeface="Aptos"/>
                <a:cs typeface="Aptos"/>
                <a:sym typeface="Aptos"/>
              </a:rPr>
              <a:t>A responsive web application to organize,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CFDCDC"/>
                </a:solidFill>
                <a:latin typeface="Aptos"/>
                <a:ea typeface="Aptos"/>
                <a:cs typeface="Aptos"/>
                <a:sym typeface="Aptos"/>
              </a:rPr>
              <a:t>monitor, and manage job applications.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60012" y="8274166"/>
            <a:ext cx="227413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A0B3B5"/>
                </a:solidFill>
                <a:latin typeface="Aptos"/>
                <a:ea typeface="Aptos"/>
                <a:cs typeface="Aptos"/>
                <a:sym typeface="Aptos"/>
              </a:rPr>
              <a:t>Done by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60012" y="9045893"/>
            <a:ext cx="655224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Mohamed Ismail Fawaz K 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60012" y="9553785"/>
            <a:ext cx="270876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0C882"/>
                </a:solidFill>
                <a:latin typeface="Aptos Bold"/>
                <a:ea typeface="Aptos Bold"/>
                <a:cs typeface="Aptos Bold"/>
                <a:sym typeface="Aptos Bold"/>
              </a:rPr>
              <a:t>240701324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79160" y="677170"/>
            <a:ext cx="1616096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Abstract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612" y="1510303"/>
            <a:ext cx="158864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Project overview and purpose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0872" y="9581255"/>
            <a:ext cx="16403431" cy="16469"/>
            <a:chOff x="0" y="0"/>
            <a:chExt cx="21871242" cy="219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71305" cy="21971"/>
            </a:xfrm>
            <a:custGeom>
              <a:avLst/>
              <a:gdLst/>
              <a:ahLst/>
              <a:cxnLst/>
              <a:rect r="r" b="b" t="t" l="l"/>
              <a:pathLst>
                <a:path h="21971" w="21871305">
                  <a:moveTo>
                    <a:pt x="0" y="0"/>
                  </a:moveTo>
                  <a:lnTo>
                    <a:pt x="21871305" y="0"/>
                  </a:lnTo>
                  <a:lnTo>
                    <a:pt x="21871305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6E1D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06612" y="9695631"/>
            <a:ext cx="8885796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WEB PROGRAMMING  •  CS23531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90356" y="9658645"/>
            <a:ext cx="718395" cy="27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6425" y="2420464"/>
            <a:ext cx="15886424" cy="113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Managing multiple job and internship applications can become difficult when details, deadlines, and interview updates are scattered across different platforms.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6425" y="3930406"/>
            <a:ext cx="1561189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The Job Application Tracker provides a centralized interface to record applications, monitor their progress, and review application statistics. Users can organize applications by status, search and filter records, and update details when their application stage changes.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8603" y="6098858"/>
            <a:ext cx="5097951" cy="2009442"/>
            <a:chOff x="0" y="0"/>
            <a:chExt cx="6797269" cy="26792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97294" cy="2679319"/>
            </a:xfrm>
            <a:custGeom>
              <a:avLst/>
              <a:gdLst/>
              <a:ahLst/>
              <a:cxnLst/>
              <a:rect r="r" b="b" t="t" l="l"/>
              <a:pathLst>
                <a:path h="2679319" w="6797294">
                  <a:moveTo>
                    <a:pt x="0" y="321564"/>
                  </a:moveTo>
                  <a:cubicBezTo>
                    <a:pt x="0" y="143891"/>
                    <a:pt x="143891" y="0"/>
                    <a:pt x="321564" y="0"/>
                  </a:cubicBezTo>
                  <a:lnTo>
                    <a:pt x="6475730" y="0"/>
                  </a:lnTo>
                  <a:cubicBezTo>
                    <a:pt x="6653276" y="0"/>
                    <a:pt x="6797294" y="143891"/>
                    <a:pt x="6797294" y="321564"/>
                  </a:cubicBezTo>
                  <a:lnTo>
                    <a:pt x="6797294" y="2357755"/>
                  </a:lnTo>
                  <a:cubicBezTo>
                    <a:pt x="6797294" y="2535301"/>
                    <a:pt x="6653403" y="2679319"/>
                    <a:pt x="6475730" y="2679319"/>
                  </a:cubicBezTo>
                  <a:lnTo>
                    <a:pt x="321564" y="2679319"/>
                  </a:lnTo>
                  <a:cubicBezTo>
                    <a:pt x="143891" y="2679192"/>
                    <a:pt x="0" y="2535301"/>
                    <a:pt x="0" y="23577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8137" y="6108392"/>
            <a:ext cx="109814" cy="1990373"/>
            <a:chOff x="0" y="0"/>
            <a:chExt cx="146418" cy="26538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2653792"/>
            </a:xfrm>
            <a:custGeom>
              <a:avLst/>
              <a:gdLst/>
              <a:ahLst/>
              <a:cxnLst/>
              <a:rect r="r" b="b" t="t" l="l"/>
              <a:pathLst>
                <a:path h="265379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59592" y="6428670"/>
            <a:ext cx="442461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Centralized records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9592" y="7115004"/>
            <a:ext cx="4424610" cy="74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Store key details such as company, role, date, link, and status.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06750" y="6098858"/>
            <a:ext cx="5097951" cy="2009442"/>
            <a:chOff x="0" y="0"/>
            <a:chExt cx="6797269" cy="26792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7294" cy="2679319"/>
            </a:xfrm>
            <a:custGeom>
              <a:avLst/>
              <a:gdLst/>
              <a:ahLst/>
              <a:cxnLst/>
              <a:rect r="r" b="b" t="t" l="l"/>
              <a:pathLst>
                <a:path h="2679319" w="6797294">
                  <a:moveTo>
                    <a:pt x="0" y="321564"/>
                  </a:moveTo>
                  <a:cubicBezTo>
                    <a:pt x="0" y="143891"/>
                    <a:pt x="143891" y="0"/>
                    <a:pt x="321564" y="0"/>
                  </a:cubicBezTo>
                  <a:lnTo>
                    <a:pt x="6475730" y="0"/>
                  </a:lnTo>
                  <a:cubicBezTo>
                    <a:pt x="6653276" y="0"/>
                    <a:pt x="6797294" y="143891"/>
                    <a:pt x="6797294" y="321564"/>
                  </a:cubicBezTo>
                  <a:lnTo>
                    <a:pt x="6797294" y="2357755"/>
                  </a:lnTo>
                  <a:cubicBezTo>
                    <a:pt x="6797294" y="2535301"/>
                    <a:pt x="6653403" y="2679319"/>
                    <a:pt x="6475730" y="2679319"/>
                  </a:cubicBezTo>
                  <a:lnTo>
                    <a:pt x="321564" y="2679319"/>
                  </a:lnTo>
                  <a:cubicBezTo>
                    <a:pt x="143891" y="2679192"/>
                    <a:pt x="0" y="2535301"/>
                    <a:pt x="0" y="23577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616284" y="6108392"/>
            <a:ext cx="109814" cy="1990373"/>
            <a:chOff x="0" y="0"/>
            <a:chExt cx="146418" cy="26538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2653792"/>
            </a:xfrm>
            <a:custGeom>
              <a:avLst/>
              <a:gdLst/>
              <a:ahLst/>
              <a:cxnLst/>
              <a:rect r="r" b="b" t="t" l="l"/>
              <a:pathLst>
                <a:path h="265379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977739" y="6428670"/>
            <a:ext cx="442461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Clear progress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77739" y="7115004"/>
            <a:ext cx="4424610" cy="74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View applications by stage and understand current progress.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24887" y="6098858"/>
            <a:ext cx="5097951" cy="2009442"/>
            <a:chOff x="0" y="0"/>
            <a:chExt cx="6797269" cy="26792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97294" cy="2679319"/>
            </a:xfrm>
            <a:custGeom>
              <a:avLst/>
              <a:gdLst/>
              <a:ahLst/>
              <a:cxnLst/>
              <a:rect r="r" b="b" t="t" l="l"/>
              <a:pathLst>
                <a:path h="2679319" w="6797294">
                  <a:moveTo>
                    <a:pt x="0" y="321564"/>
                  </a:moveTo>
                  <a:cubicBezTo>
                    <a:pt x="0" y="143891"/>
                    <a:pt x="143891" y="0"/>
                    <a:pt x="321564" y="0"/>
                  </a:cubicBezTo>
                  <a:lnTo>
                    <a:pt x="6475730" y="0"/>
                  </a:lnTo>
                  <a:cubicBezTo>
                    <a:pt x="6653276" y="0"/>
                    <a:pt x="6797294" y="143891"/>
                    <a:pt x="6797294" y="321564"/>
                  </a:cubicBezTo>
                  <a:lnTo>
                    <a:pt x="6797294" y="2357755"/>
                  </a:lnTo>
                  <a:cubicBezTo>
                    <a:pt x="6797294" y="2535301"/>
                    <a:pt x="6653403" y="2679319"/>
                    <a:pt x="6475730" y="2679319"/>
                  </a:cubicBezTo>
                  <a:lnTo>
                    <a:pt x="321564" y="2679319"/>
                  </a:lnTo>
                  <a:cubicBezTo>
                    <a:pt x="143891" y="2679192"/>
                    <a:pt x="0" y="2535301"/>
                    <a:pt x="0" y="23577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34421" y="6108392"/>
            <a:ext cx="109814" cy="1990373"/>
            <a:chOff x="0" y="0"/>
            <a:chExt cx="146418" cy="26538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" cy="2653792"/>
            </a:xfrm>
            <a:custGeom>
              <a:avLst/>
              <a:gdLst/>
              <a:ahLst/>
              <a:cxnLst/>
              <a:rect r="r" b="b" t="t" l="l"/>
              <a:pathLst>
                <a:path h="265379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95876" y="6428670"/>
            <a:ext cx="442461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Easy access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95876" y="7115004"/>
            <a:ext cx="4424610" cy="74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Use a responsive interface with browser-based data persistence.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79160" y="677170"/>
            <a:ext cx="1616096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Modules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612" y="1500778"/>
            <a:ext cx="15886424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Main functional components of the application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0872" y="9581255"/>
            <a:ext cx="16403431" cy="16469"/>
            <a:chOff x="0" y="0"/>
            <a:chExt cx="21871242" cy="219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71305" cy="21971"/>
            </a:xfrm>
            <a:custGeom>
              <a:avLst/>
              <a:gdLst/>
              <a:ahLst/>
              <a:cxnLst/>
              <a:rect r="r" b="b" t="t" l="l"/>
              <a:pathLst>
                <a:path h="21971" w="21871305">
                  <a:moveTo>
                    <a:pt x="0" y="0"/>
                  </a:moveTo>
                  <a:lnTo>
                    <a:pt x="21871305" y="0"/>
                  </a:lnTo>
                  <a:lnTo>
                    <a:pt x="21871305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6E1D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06612" y="9695631"/>
            <a:ext cx="8885796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WEB PROGRAMMING  •  CS23531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90356" y="9658645"/>
            <a:ext cx="718395" cy="27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8603" y="2324014"/>
            <a:ext cx="5097951" cy="2283971"/>
            <a:chOff x="0" y="0"/>
            <a:chExt cx="6797269" cy="30452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97167" cy="3045206"/>
            </a:xfrm>
            <a:custGeom>
              <a:avLst/>
              <a:gdLst/>
              <a:ahLst/>
              <a:cxnLst/>
              <a:rect r="r" b="b" t="t" l="l"/>
              <a:pathLst>
                <a:path h="3045206" w="6797167">
                  <a:moveTo>
                    <a:pt x="0" y="365379"/>
                  </a:moveTo>
                  <a:cubicBezTo>
                    <a:pt x="0" y="163576"/>
                    <a:pt x="163576" y="0"/>
                    <a:pt x="365379" y="0"/>
                  </a:cubicBezTo>
                  <a:lnTo>
                    <a:pt x="6431788" y="0"/>
                  </a:lnTo>
                  <a:cubicBezTo>
                    <a:pt x="6633591" y="0"/>
                    <a:pt x="6797167" y="163576"/>
                    <a:pt x="6797167" y="365379"/>
                  </a:cubicBezTo>
                  <a:lnTo>
                    <a:pt x="6797167" y="2679827"/>
                  </a:lnTo>
                  <a:cubicBezTo>
                    <a:pt x="6797167" y="2881630"/>
                    <a:pt x="6633591" y="3045206"/>
                    <a:pt x="6431788" y="3045206"/>
                  </a:cubicBezTo>
                  <a:lnTo>
                    <a:pt x="365379" y="3045206"/>
                  </a:lnTo>
                  <a:cubicBezTo>
                    <a:pt x="163576" y="3045333"/>
                    <a:pt x="0" y="2881630"/>
                    <a:pt x="0" y="26798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8137" y="2333539"/>
            <a:ext cx="109814" cy="2264912"/>
            <a:chOff x="0" y="0"/>
            <a:chExt cx="146418" cy="3019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59592" y="2653817"/>
            <a:ext cx="442461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01  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9592" y="3340151"/>
            <a:ext cx="4424610" cy="10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Displays summary counts for total applications, interviews, offers, and rejections.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06750" y="2324014"/>
            <a:ext cx="5097951" cy="2283971"/>
            <a:chOff x="0" y="0"/>
            <a:chExt cx="6797269" cy="30452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97167" cy="3045206"/>
            </a:xfrm>
            <a:custGeom>
              <a:avLst/>
              <a:gdLst/>
              <a:ahLst/>
              <a:cxnLst/>
              <a:rect r="r" b="b" t="t" l="l"/>
              <a:pathLst>
                <a:path h="3045206" w="6797167">
                  <a:moveTo>
                    <a:pt x="0" y="365379"/>
                  </a:moveTo>
                  <a:cubicBezTo>
                    <a:pt x="0" y="163576"/>
                    <a:pt x="163576" y="0"/>
                    <a:pt x="365379" y="0"/>
                  </a:cubicBezTo>
                  <a:lnTo>
                    <a:pt x="6431788" y="0"/>
                  </a:lnTo>
                  <a:cubicBezTo>
                    <a:pt x="6633591" y="0"/>
                    <a:pt x="6797167" y="163576"/>
                    <a:pt x="6797167" y="365379"/>
                  </a:cubicBezTo>
                  <a:lnTo>
                    <a:pt x="6797167" y="2679827"/>
                  </a:lnTo>
                  <a:cubicBezTo>
                    <a:pt x="6797167" y="2881630"/>
                    <a:pt x="6633591" y="3045206"/>
                    <a:pt x="6431788" y="3045206"/>
                  </a:cubicBezTo>
                  <a:lnTo>
                    <a:pt x="365379" y="3045206"/>
                  </a:lnTo>
                  <a:cubicBezTo>
                    <a:pt x="163576" y="3045333"/>
                    <a:pt x="0" y="2881630"/>
                    <a:pt x="0" y="26798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616284" y="2333539"/>
            <a:ext cx="109814" cy="2264912"/>
            <a:chOff x="0" y="0"/>
            <a:chExt cx="146418" cy="30198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977739" y="2653817"/>
            <a:ext cx="442461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02  Application Management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77739" y="3340151"/>
            <a:ext cx="4424610" cy="10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Add, edit, view, and delete job or internship application records.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24887" y="2324014"/>
            <a:ext cx="5097951" cy="2283971"/>
            <a:chOff x="0" y="0"/>
            <a:chExt cx="6797269" cy="30452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7167" cy="3045206"/>
            </a:xfrm>
            <a:custGeom>
              <a:avLst/>
              <a:gdLst/>
              <a:ahLst/>
              <a:cxnLst/>
              <a:rect r="r" b="b" t="t" l="l"/>
              <a:pathLst>
                <a:path h="3045206" w="6797167">
                  <a:moveTo>
                    <a:pt x="0" y="365379"/>
                  </a:moveTo>
                  <a:cubicBezTo>
                    <a:pt x="0" y="163576"/>
                    <a:pt x="163576" y="0"/>
                    <a:pt x="365379" y="0"/>
                  </a:cubicBezTo>
                  <a:lnTo>
                    <a:pt x="6431788" y="0"/>
                  </a:lnTo>
                  <a:cubicBezTo>
                    <a:pt x="6633591" y="0"/>
                    <a:pt x="6797167" y="163576"/>
                    <a:pt x="6797167" y="365379"/>
                  </a:cubicBezTo>
                  <a:lnTo>
                    <a:pt x="6797167" y="2679827"/>
                  </a:lnTo>
                  <a:cubicBezTo>
                    <a:pt x="6797167" y="2881630"/>
                    <a:pt x="6633591" y="3045206"/>
                    <a:pt x="6431788" y="3045206"/>
                  </a:cubicBezTo>
                  <a:lnTo>
                    <a:pt x="365379" y="3045206"/>
                  </a:lnTo>
                  <a:cubicBezTo>
                    <a:pt x="163576" y="3045333"/>
                    <a:pt x="0" y="2881630"/>
                    <a:pt x="0" y="26798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134421" y="2333539"/>
            <a:ext cx="109814" cy="2264912"/>
            <a:chOff x="0" y="0"/>
            <a:chExt cx="146418" cy="30198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495876" y="2653817"/>
            <a:ext cx="442461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03  Search &amp; Filters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95876" y="3340151"/>
            <a:ext cx="4424610" cy="10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Search by company or role; filter by status and sort by application date.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88603" y="5275259"/>
            <a:ext cx="5097951" cy="2283971"/>
            <a:chOff x="0" y="0"/>
            <a:chExt cx="6797269" cy="30452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7167" cy="3045206"/>
            </a:xfrm>
            <a:custGeom>
              <a:avLst/>
              <a:gdLst/>
              <a:ahLst/>
              <a:cxnLst/>
              <a:rect r="r" b="b" t="t" l="l"/>
              <a:pathLst>
                <a:path h="3045206" w="6797167">
                  <a:moveTo>
                    <a:pt x="0" y="365379"/>
                  </a:moveTo>
                  <a:cubicBezTo>
                    <a:pt x="0" y="163576"/>
                    <a:pt x="163576" y="0"/>
                    <a:pt x="365379" y="0"/>
                  </a:cubicBezTo>
                  <a:lnTo>
                    <a:pt x="6431788" y="0"/>
                  </a:lnTo>
                  <a:cubicBezTo>
                    <a:pt x="6633591" y="0"/>
                    <a:pt x="6797167" y="163576"/>
                    <a:pt x="6797167" y="365379"/>
                  </a:cubicBezTo>
                  <a:lnTo>
                    <a:pt x="6797167" y="2679827"/>
                  </a:lnTo>
                  <a:cubicBezTo>
                    <a:pt x="6797167" y="2881630"/>
                    <a:pt x="6633591" y="3045206"/>
                    <a:pt x="6431788" y="3045206"/>
                  </a:cubicBezTo>
                  <a:lnTo>
                    <a:pt x="365379" y="3045206"/>
                  </a:lnTo>
                  <a:cubicBezTo>
                    <a:pt x="163576" y="3045333"/>
                    <a:pt x="0" y="2881630"/>
                    <a:pt x="0" y="26798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98137" y="5284784"/>
            <a:ext cx="109814" cy="2264912"/>
            <a:chOff x="0" y="0"/>
            <a:chExt cx="146418" cy="30198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59592" y="5605062"/>
            <a:ext cx="442461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04  Kanban Pipeline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59592" y="6291405"/>
            <a:ext cx="4424610" cy="10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Groups applications into Applied, Interview, Offer, and Rejected stages.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606750" y="5275259"/>
            <a:ext cx="5097951" cy="2283971"/>
            <a:chOff x="0" y="0"/>
            <a:chExt cx="6797269" cy="304529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97167" cy="3045206"/>
            </a:xfrm>
            <a:custGeom>
              <a:avLst/>
              <a:gdLst/>
              <a:ahLst/>
              <a:cxnLst/>
              <a:rect r="r" b="b" t="t" l="l"/>
              <a:pathLst>
                <a:path h="3045206" w="6797167">
                  <a:moveTo>
                    <a:pt x="0" y="365379"/>
                  </a:moveTo>
                  <a:cubicBezTo>
                    <a:pt x="0" y="163576"/>
                    <a:pt x="163576" y="0"/>
                    <a:pt x="365379" y="0"/>
                  </a:cubicBezTo>
                  <a:lnTo>
                    <a:pt x="6431788" y="0"/>
                  </a:lnTo>
                  <a:cubicBezTo>
                    <a:pt x="6633591" y="0"/>
                    <a:pt x="6797167" y="163576"/>
                    <a:pt x="6797167" y="365379"/>
                  </a:cubicBezTo>
                  <a:lnTo>
                    <a:pt x="6797167" y="2679827"/>
                  </a:lnTo>
                  <a:cubicBezTo>
                    <a:pt x="6797167" y="2881630"/>
                    <a:pt x="6633591" y="3045206"/>
                    <a:pt x="6431788" y="3045206"/>
                  </a:cubicBezTo>
                  <a:lnTo>
                    <a:pt x="365379" y="3045206"/>
                  </a:lnTo>
                  <a:cubicBezTo>
                    <a:pt x="163576" y="3045333"/>
                    <a:pt x="0" y="2881630"/>
                    <a:pt x="0" y="26798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616284" y="5284784"/>
            <a:ext cx="109814" cy="2264912"/>
            <a:chOff x="0" y="0"/>
            <a:chExt cx="146418" cy="301988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6977739" y="5605062"/>
            <a:ext cx="44246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05  Local Storage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77739" y="6291405"/>
            <a:ext cx="4424610" cy="10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Uses localStorage to retain records across browser refreshes.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124887" y="5275259"/>
            <a:ext cx="5097951" cy="2283971"/>
            <a:chOff x="0" y="0"/>
            <a:chExt cx="6797269" cy="304529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97167" cy="3045206"/>
            </a:xfrm>
            <a:custGeom>
              <a:avLst/>
              <a:gdLst/>
              <a:ahLst/>
              <a:cxnLst/>
              <a:rect r="r" b="b" t="t" l="l"/>
              <a:pathLst>
                <a:path h="3045206" w="6797167">
                  <a:moveTo>
                    <a:pt x="0" y="365379"/>
                  </a:moveTo>
                  <a:cubicBezTo>
                    <a:pt x="0" y="163576"/>
                    <a:pt x="163576" y="0"/>
                    <a:pt x="365379" y="0"/>
                  </a:cubicBezTo>
                  <a:lnTo>
                    <a:pt x="6431788" y="0"/>
                  </a:lnTo>
                  <a:cubicBezTo>
                    <a:pt x="6633591" y="0"/>
                    <a:pt x="6797167" y="163576"/>
                    <a:pt x="6797167" y="365379"/>
                  </a:cubicBezTo>
                  <a:lnTo>
                    <a:pt x="6797167" y="2679827"/>
                  </a:lnTo>
                  <a:cubicBezTo>
                    <a:pt x="6797167" y="2881630"/>
                    <a:pt x="6633591" y="3045206"/>
                    <a:pt x="6431788" y="3045206"/>
                  </a:cubicBezTo>
                  <a:lnTo>
                    <a:pt x="365379" y="3045206"/>
                  </a:lnTo>
                  <a:cubicBezTo>
                    <a:pt x="163576" y="3045333"/>
                    <a:pt x="0" y="2881630"/>
                    <a:pt x="0" y="267982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134421" y="5284784"/>
            <a:ext cx="109814" cy="2264912"/>
            <a:chOff x="0" y="0"/>
            <a:chExt cx="146418" cy="301988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495876" y="5605062"/>
            <a:ext cx="442461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06  Responsive UI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95876" y="6291405"/>
            <a:ext cx="4424610" cy="10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Adapts layouts for desktop, tablet, and mobile screens.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79160" y="677170"/>
            <a:ext cx="1616096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Tech Stack &amp;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612" y="1500778"/>
            <a:ext cx="15886424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Frontend-focused implementation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0872" y="9581255"/>
            <a:ext cx="16403431" cy="16469"/>
            <a:chOff x="0" y="0"/>
            <a:chExt cx="21871242" cy="219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71305" cy="21971"/>
            </a:xfrm>
            <a:custGeom>
              <a:avLst/>
              <a:gdLst/>
              <a:ahLst/>
              <a:cxnLst/>
              <a:rect r="r" b="b" t="t" l="l"/>
              <a:pathLst>
                <a:path h="21971" w="21871305">
                  <a:moveTo>
                    <a:pt x="0" y="0"/>
                  </a:moveTo>
                  <a:lnTo>
                    <a:pt x="21871305" y="0"/>
                  </a:lnTo>
                  <a:lnTo>
                    <a:pt x="21871305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6E1D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06612" y="9695631"/>
            <a:ext cx="8885796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WEB PROGRAMMING  •  CS23531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90356" y="9658645"/>
            <a:ext cx="718395" cy="27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6425" y="2145935"/>
            <a:ext cx="6277718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0C882"/>
                </a:solidFill>
                <a:latin typeface="Aptos Bold"/>
                <a:ea typeface="Aptos Bold"/>
                <a:cs typeface="Aptos Bold"/>
                <a:sym typeface="Aptos Bold"/>
              </a:rPr>
              <a:t>TECHNOLOGY STACK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8603" y="2667181"/>
            <a:ext cx="6470628" cy="1144657"/>
            <a:chOff x="0" y="0"/>
            <a:chExt cx="8627504" cy="1526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27490" cy="1526159"/>
            </a:xfrm>
            <a:custGeom>
              <a:avLst/>
              <a:gdLst/>
              <a:ahLst/>
              <a:cxnLst/>
              <a:rect r="r" b="b" t="t" l="l"/>
              <a:pathLst>
                <a:path h="1526159" w="8627490">
                  <a:moveTo>
                    <a:pt x="0" y="183134"/>
                  </a:moveTo>
                  <a:cubicBezTo>
                    <a:pt x="0" y="82042"/>
                    <a:pt x="82042" y="0"/>
                    <a:pt x="183134" y="0"/>
                  </a:cubicBezTo>
                  <a:lnTo>
                    <a:pt x="8444357" y="0"/>
                  </a:lnTo>
                  <a:cubicBezTo>
                    <a:pt x="8545449" y="0"/>
                    <a:pt x="8627490" y="82042"/>
                    <a:pt x="8627490" y="183134"/>
                  </a:cubicBezTo>
                  <a:lnTo>
                    <a:pt x="8627490" y="1343025"/>
                  </a:lnTo>
                  <a:cubicBezTo>
                    <a:pt x="8627490" y="1444117"/>
                    <a:pt x="8545449" y="1526159"/>
                    <a:pt x="8444357" y="1526159"/>
                  </a:cubicBezTo>
                  <a:lnTo>
                    <a:pt x="183134" y="1526159"/>
                  </a:lnTo>
                  <a:cubicBezTo>
                    <a:pt x="82042" y="1526159"/>
                    <a:pt x="0" y="1444244"/>
                    <a:pt x="0" y="13430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98137" y="2676716"/>
            <a:ext cx="109814" cy="1125588"/>
            <a:chOff x="0" y="0"/>
            <a:chExt cx="146418" cy="15007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59592" y="2987459"/>
            <a:ext cx="5797277" cy="49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HTML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8603" y="3998671"/>
            <a:ext cx="6470628" cy="1144657"/>
            <a:chOff x="0" y="0"/>
            <a:chExt cx="8627504" cy="15262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27490" cy="1526159"/>
            </a:xfrm>
            <a:custGeom>
              <a:avLst/>
              <a:gdLst/>
              <a:ahLst/>
              <a:cxnLst/>
              <a:rect r="r" b="b" t="t" l="l"/>
              <a:pathLst>
                <a:path h="1526159" w="8627490">
                  <a:moveTo>
                    <a:pt x="0" y="183134"/>
                  </a:moveTo>
                  <a:cubicBezTo>
                    <a:pt x="0" y="82042"/>
                    <a:pt x="82042" y="0"/>
                    <a:pt x="183134" y="0"/>
                  </a:cubicBezTo>
                  <a:lnTo>
                    <a:pt x="8444357" y="0"/>
                  </a:lnTo>
                  <a:cubicBezTo>
                    <a:pt x="8545449" y="0"/>
                    <a:pt x="8627490" y="82042"/>
                    <a:pt x="8627490" y="183134"/>
                  </a:cubicBezTo>
                  <a:lnTo>
                    <a:pt x="8627490" y="1343025"/>
                  </a:lnTo>
                  <a:cubicBezTo>
                    <a:pt x="8627490" y="1444117"/>
                    <a:pt x="8545449" y="1526159"/>
                    <a:pt x="8444357" y="1526159"/>
                  </a:cubicBezTo>
                  <a:lnTo>
                    <a:pt x="183134" y="1526159"/>
                  </a:lnTo>
                  <a:cubicBezTo>
                    <a:pt x="82042" y="1526159"/>
                    <a:pt x="0" y="1444244"/>
                    <a:pt x="0" y="13430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8137" y="4008206"/>
            <a:ext cx="109814" cy="1125588"/>
            <a:chOff x="0" y="0"/>
            <a:chExt cx="146418" cy="15007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59592" y="4318959"/>
            <a:ext cx="5797277" cy="49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CSS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88603" y="5330161"/>
            <a:ext cx="6470628" cy="1144657"/>
            <a:chOff x="0" y="0"/>
            <a:chExt cx="8627504" cy="15262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27490" cy="1526159"/>
            </a:xfrm>
            <a:custGeom>
              <a:avLst/>
              <a:gdLst/>
              <a:ahLst/>
              <a:cxnLst/>
              <a:rect r="r" b="b" t="t" l="l"/>
              <a:pathLst>
                <a:path h="1526159" w="8627490">
                  <a:moveTo>
                    <a:pt x="0" y="183134"/>
                  </a:moveTo>
                  <a:cubicBezTo>
                    <a:pt x="0" y="82042"/>
                    <a:pt x="82042" y="0"/>
                    <a:pt x="183134" y="0"/>
                  </a:cubicBezTo>
                  <a:lnTo>
                    <a:pt x="8444357" y="0"/>
                  </a:lnTo>
                  <a:cubicBezTo>
                    <a:pt x="8545449" y="0"/>
                    <a:pt x="8627490" y="82042"/>
                    <a:pt x="8627490" y="183134"/>
                  </a:cubicBezTo>
                  <a:lnTo>
                    <a:pt x="8627490" y="1343025"/>
                  </a:lnTo>
                  <a:cubicBezTo>
                    <a:pt x="8627490" y="1444117"/>
                    <a:pt x="8545449" y="1526159"/>
                    <a:pt x="8444357" y="1526159"/>
                  </a:cubicBezTo>
                  <a:lnTo>
                    <a:pt x="183134" y="1526159"/>
                  </a:lnTo>
                  <a:cubicBezTo>
                    <a:pt x="82042" y="1526159"/>
                    <a:pt x="0" y="1444244"/>
                    <a:pt x="0" y="13430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98137" y="5339696"/>
            <a:ext cx="109814" cy="1125588"/>
            <a:chOff x="0" y="0"/>
            <a:chExt cx="146418" cy="15007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59592" y="5650449"/>
            <a:ext cx="5797277" cy="49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JavaScript + React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88603" y="6661652"/>
            <a:ext cx="6470628" cy="1144657"/>
            <a:chOff x="0" y="0"/>
            <a:chExt cx="8627504" cy="15262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627490" cy="1526159"/>
            </a:xfrm>
            <a:custGeom>
              <a:avLst/>
              <a:gdLst/>
              <a:ahLst/>
              <a:cxnLst/>
              <a:rect r="r" b="b" t="t" l="l"/>
              <a:pathLst>
                <a:path h="1526159" w="8627490">
                  <a:moveTo>
                    <a:pt x="0" y="183134"/>
                  </a:moveTo>
                  <a:cubicBezTo>
                    <a:pt x="0" y="82042"/>
                    <a:pt x="82042" y="0"/>
                    <a:pt x="183134" y="0"/>
                  </a:cubicBezTo>
                  <a:lnTo>
                    <a:pt x="8444357" y="0"/>
                  </a:lnTo>
                  <a:cubicBezTo>
                    <a:pt x="8545449" y="0"/>
                    <a:pt x="8627490" y="82042"/>
                    <a:pt x="8627490" y="183134"/>
                  </a:cubicBezTo>
                  <a:lnTo>
                    <a:pt x="8627490" y="1343025"/>
                  </a:lnTo>
                  <a:cubicBezTo>
                    <a:pt x="8627490" y="1444117"/>
                    <a:pt x="8545449" y="1526159"/>
                    <a:pt x="8444357" y="1526159"/>
                  </a:cubicBezTo>
                  <a:lnTo>
                    <a:pt x="183134" y="1526159"/>
                  </a:lnTo>
                  <a:cubicBezTo>
                    <a:pt x="82042" y="1526159"/>
                    <a:pt x="0" y="1444244"/>
                    <a:pt x="0" y="13430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98137" y="6671186"/>
            <a:ext cx="109814" cy="1125588"/>
            <a:chOff x="0" y="0"/>
            <a:chExt cx="146418" cy="15007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59592" y="6981939"/>
            <a:ext cx="5797277" cy="49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Vite + localStorage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60219" y="2145935"/>
            <a:ext cx="7924924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0C882"/>
                </a:solidFill>
                <a:latin typeface="Aptos Bold"/>
                <a:ea typeface="Aptos Bold"/>
                <a:cs typeface="Aptos Bold"/>
                <a:sym typeface="Aptos Bold"/>
              </a:rPr>
              <a:t>HIGH-LEVEL ARCHITECTURE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501034" y="2735809"/>
            <a:ext cx="7637393" cy="1007393"/>
            <a:chOff x="0" y="0"/>
            <a:chExt cx="10183190" cy="13431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83114" cy="1343152"/>
            </a:xfrm>
            <a:custGeom>
              <a:avLst/>
              <a:gdLst/>
              <a:ahLst/>
              <a:cxnLst/>
              <a:rect r="r" b="b" t="t" l="l"/>
              <a:pathLst>
                <a:path h="1343152" w="10183114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10021951" y="0"/>
                  </a:lnTo>
                  <a:cubicBezTo>
                    <a:pt x="10110978" y="0"/>
                    <a:pt x="10183114" y="72136"/>
                    <a:pt x="10183114" y="161163"/>
                  </a:cubicBezTo>
                  <a:lnTo>
                    <a:pt x="10183114" y="1181989"/>
                  </a:lnTo>
                  <a:cubicBezTo>
                    <a:pt x="10183114" y="1271016"/>
                    <a:pt x="10110978" y="1343152"/>
                    <a:pt x="10021951" y="1343152"/>
                  </a:cubicBezTo>
                  <a:lnTo>
                    <a:pt x="161163" y="1343152"/>
                  </a:lnTo>
                  <a:cubicBezTo>
                    <a:pt x="72136" y="1343152"/>
                    <a:pt x="0" y="1271016"/>
                    <a:pt x="0" y="118198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1029492" y="2923389"/>
            <a:ext cx="3669640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User Interface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92408" y="3256655"/>
            <a:ext cx="450854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Forms, cards, filters, and Kanban board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54641" y="3751955"/>
            <a:ext cx="581130" cy="3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0C882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501034" y="4177122"/>
            <a:ext cx="7637393" cy="1007393"/>
            <a:chOff x="0" y="0"/>
            <a:chExt cx="10183190" cy="13431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83114" cy="1343152"/>
            </a:xfrm>
            <a:custGeom>
              <a:avLst/>
              <a:gdLst/>
              <a:ahLst/>
              <a:cxnLst/>
              <a:rect r="r" b="b" t="t" l="l"/>
              <a:pathLst>
                <a:path h="1343152" w="10183114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10021951" y="0"/>
                  </a:lnTo>
                  <a:cubicBezTo>
                    <a:pt x="10110978" y="0"/>
                    <a:pt x="10183114" y="72136"/>
                    <a:pt x="10183114" y="161163"/>
                  </a:cubicBezTo>
                  <a:lnTo>
                    <a:pt x="10183114" y="1181989"/>
                  </a:lnTo>
                  <a:cubicBezTo>
                    <a:pt x="10183114" y="1271016"/>
                    <a:pt x="10110978" y="1343152"/>
                    <a:pt x="10021951" y="1343152"/>
                  </a:cubicBezTo>
                  <a:lnTo>
                    <a:pt x="161163" y="1343152"/>
                  </a:lnTo>
                  <a:cubicBezTo>
                    <a:pt x="72136" y="1343152"/>
                    <a:pt x="0" y="1271016"/>
                    <a:pt x="0" y="118198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0484910" y="4331980"/>
            <a:ext cx="3669640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React Components &amp; State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54943" y="4743345"/>
            <a:ext cx="438347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Renders UI and tracks user interactions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54641" y="5193259"/>
            <a:ext cx="581130" cy="3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0C882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501034" y="5618426"/>
            <a:ext cx="7637393" cy="1007393"/>
            <a:chOff x="0" y="0"/>
            <a:chExt cx="10183190" cy="13431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83114" cy="1343152"/>
            </a:xfrm>
            <a:custGeom>
              <a:avLst/>
              <a:gdLst/>
              <a:ahLst/>
              <a:cxnLst/>
              <a:rect r="r" b="b" t="t" l="l"/>
              <a:pathLst>
                <a:path h="1343152" w="10183114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10021951" y="0"/>
                  </a:lnTo>
                  <a:cubicBezTo>
                    <a:pt x="10110978" y="0"/>
                    <a:pt x="10183114" y="72136"/>
                    <a:pt x="10183114" y="161163"/>
                  </a:cubicBezTo>
                  <a:lnTo>
                    <a:pt x="10183114" y="1181989"/>
                  </a:lnTo>
                  <a:cubicBezTo>
                    <a:pt x="10183114" y="1271016"/>
                    <a:pt x="10110978" y="1343152"/>
                    <a:pt x="10021951" y="1343152"/>
                  </a:cubicBezTo>
                  <a:lnTo>
                    <a:pt x="161163" y="1343152"/>
                  </a:lnTo>
                  <a:cubicBezTo>
                    <a:pt x="72136" y="1343152"/>
                    <a:pt x="0" y="1271016"/>
                    <a:pt x="0" y="118198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0843409" y="5828900"/>
            <a:ext cx="3669640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Application Logic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25723" y="6243466"/>
            <a:ext cx="457340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Add/edit/delete, search, sorting, statistics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754641" y="6634572"/>
            <a:ext cx="581130" cy="3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0C882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501034" y="7059730"/>
            <a:ext cx="7637393" cy="1007393"/>
            <a:chOff x="0" y="0"/>
            <a:chExt cx="10183190" cy="13431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183114" cy="1343152"/>
            </a:xfrm>
            <a:custGeom>
              <a:avLst/>
              <a:gdLst/>
              <a:ahLst/>
              <a:cxnLst/>
              <a:rect r="r" b="b" t="t" l="l"/>
              <a:pathLst>
                <a:path h="1343152" w="10183114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10021951" y="0"/>
                  </a:lnTo>
                  <a:cubicBezTo>
                    <a:pt x="10110978" y="0"/>
                    <a:pt x="10183114" y="72136"/>
                    <a:pt x="10183114" y="161163"/>
                  </a:cubicBezTo>
                  <a:lnTo>
                    <a:pt x="10183114" y="1181989"/>
                  </a:lnTo>
                  <a:cubicBezTo>
                    <a:pt x="10183114" y="1271016"/>
                    <a:pt x="10110978" y="1343152"/>
                    <a:pt x="10021951" y="1343152"/>
                  </a:cubicBezTo>
                  <a:lnTo>
                    <a:pt x="161163" y="1343152"/>
                  </a:lnTo>
                  <a:cubicBezTo>
                    <a:pt x="72136" y="1343152"/>
                    <a:pt x="0" y="1271016"/>
                    <a:pt x="0" y="118198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1273780" y="7239576"/>
            <a:ext cx="154285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localStorage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517761" y="7658676"/>
            <a:ext cx="432093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Saves and retrieves application records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528856" y="8460219"/>
            <a:ext cx="7787659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627179"/>
                </a:solidFill>
                <a:latin typeface="Aptos Italics"/>
                <a:ea typeface="Aptos Italics"/>
                <a:cs typeface="Aptos Italics"/>
                <a:sym typeface="Aptos Italics"/>
              </a:rPr>
              <a:t>Data is stored locally in the user's browser; a backend is not required for the initial version.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9581255"/>
            <a:ext cx="16403431" cy="16469"/>
            <a:chOff x="0" y="0"/>
            <a:chExt cx="21871242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71305" cy="21971"/>
            </a:xfrm>
            <a:custGeom>
              <a:avLst/>
              <a:gdLst/>
              <a:ahLst/>
              <a:cxnLst/>
              <a:rect r="r" b="b" t="t" l="l"/>
              <a:pathLst>
                <a:path h="21971" w="21871305">
                  <a:moveTo>
                    <a:pt x="0" y="0"/>
                  </a:moveTo>
                  <a:lnTo>
                    <a:pt x="21871305" y="0"/>
                  </a:lnTo>
                  <a:lnTo>
                    <a:pt x="21871305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6E1D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91007" y="9306418"/>
            <a:ext cx="7042668" cy="661886"/>
            <a:chOff x="0" y="0"/>
            <a:chExt cx="11354380" cy="1067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54236" cy="1067101"/>
            </a:xfrm>
            <a:custGeom>
              <a:avLst/>
              <a:gdLst/>
              <a:ahLst/>
              <a:cxnLst/>
              <a:rect r="r" b="b" t="t" l="l"/>
              <a:pathLst>
                <a:path h="1067101" w="11354236">
                  <a:moveTo>
                    <a:pt x="0" y="128040"/>
                  </a:moveTo>
                  <a:cubicBezTo>
                    <a:pt x="0" y="57284"/>
                    <a:pt x="135031" y="0"/>
                    <a:pt x="301820" y="0"/>
                  </a:cubicBezTo>
                  <a:lnTo>
                    <a:pt x="11052415" y="0"/>
                  </a:lnTo>
                  <a:cubicBezTo>
                    <a:pt x="11219204" y="0"/>
                    <a:pt x="11354236" y="57284"/>
                    <a:pt x="11354236" y="128040"/>
                  </a:cubicBezTo>
                  <a:lnTo>
                    <a:pt x="11354236" y="939061"/>
                  </a:lnTo>
                  <a:cubicBezTo>
                    <a:pt x="11354236" y="1009817"/>
                    <a:pt x="11219204" y="1067101"/>
                    <a:pt x="11052415" y="1067101"/>
                  </a:cubicBezTo>
                  <a:lnTo>
                    <a:pt x="301820" y="1067101"/>
                  </a:lnTo>
                  <a:cubicBezTo>
                    <a:pt x="135031" y="1067101"/>
                    <a:pt x="0" y="1009817"/>
                    <a:pt x="0" y="939061"/>
                  </a:cubicBezTo>
                  <a:close/>
                </a:path>
              </a:pathLst>
            </a:custGeom>
            <a:solidFill>
              <a:srgbClr val="E2F9F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78234" y="1282709"/>
            <a:ext cx="16962815" cy="7749886"/>
          </a:xfrm>
          <a:custGeom>
            <a:avLst/>
            <a:gdLst/>
            <a:ahLst/>
            <a:cxnLst/>
            <a:rect r="r" b="b" t="t" l="l"/>
            <a:pathLst>
              <a:path h="7749886" w="16962815">
                <a:moveTo>
                  <a:pt x="0" y="0"/>
                </a:moveTo>
                <a:lnTo>
                  <a:pt x="16962815" y="0"/>
                </a:lnTo>
                <a:lnTo>
                  <a:pt x="16962815" y="7749887"/>
                </a:lnTo>
                <a:lnTo>
                  <a:pt x="0" y="77498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0872" y="549284"/>
            <a:ext cx="161609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Output &amp; Source 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6612" y="9695631"/>
            <a:ext cx="8885796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WEB PROGRAMMING  •  CS23531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90356" y="9658645"/>
            <a:ext cx="718395" cy="27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44145" y="9523711"/>
            <a:ext cx="366964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GitHub link: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61487" y="9509424"/>
            <a:ext cx="677218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00704D"/>
                </a:solidFill>
                <a:latin typeface="Aptos Bold"/>
                <a:ea typeface="Aptos Bold"/>
                <a:cs typeface="Aptos Bold"/>
                <a:sym typeface="Aptos Bold"/>
              </a:rPr>
              <a:t>https://github.com/Ismailfawaz/Job-Application-Tracker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79160" y="677170"/>
            <a:ext cx="1616096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Conclusion &amp; 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612" y="1500778"/>
            <a:ext cx="15886424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Project outcome and possible enhancements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0872" y="9581255"/>
            <a:ext cx="16403431" cy="16469"/>
            <a:chOff x="0" y="0"/>
            <a:chExt cx="21871242" cy="219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71305" cy="21971"/>
            </a:xfrm>
            <a:custGeom>
              <a:avLst/>
              <a:gdLst/>
              <a:ahLst/>
              <a:cxnLst/>
              <a:rect r="r" b="b" t="t" l="l"/>
              <a:pathLst>
                <a:path h="21971" w="21871305">
                  <a:moveTo>
                    <a:pt x="0" y="0"/>
                  </a:moveTo>
                  <a:lnTo>
                    <a:pt x="21871305" y="0"/>
                  </a:lnTo>
                  <a:lnTo>
                    <a:pt x="21871305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6E1D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06612" y="9695631"/>
            <a:ext cx="8885796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WEB PROGRAMMING  •  CS23531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90356" y="9658645"/>
            <a:ext cx="718395" cy="27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27179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8603" y="2392642"/>
            <a:ext cx="7774667" cy="5441118"/>
            <a:chOff x="0" y="0"/>
            <a:chExt cx="10366223" cy="7254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66248" cy="7254875"/>
            </a:xfrm>
            <a:custGeom>
              <a:avLst/>
              <a:gdLst/>
              <a:ahLst/>
              <a:cxnLst/>
              <a:rect r="r" b="b" t="t" l="l"/>
              <a:pathLst>
                <a:path h="7254875" w="10366248">
                  <a:moveTo>
                    <a:pt x="0" y="870585"/>
                  </a:moveTo>
                  <a:cubicBezTo>
                    <a:pt x="0" y="389763"/>
                    <a:pt x="389763" y="0"/>
                    <a:pt x="870585" y="0"/>
                  </a:cubicBezTo>
                  <a:lnTo>
                    <a:pt x="9495663" y="0"/>
                  </a:lnTo>
                  <a:cubicBezTo>
                    <a:pt x="9976485" y="0"/>
                    <a:pt x="10366248" y="389763"/>
                    <a:pt x="10366248" y="870585"/>
                  </a:cubicBezTo>
                  <a:lnTo>
                    <a:pt x="10366248" y="6384290"/>
                  </a:lnTo>
                  <a:cubicBezTo>
                    <a:pt x="10366248" y="6865112"/>
                    <a:pt x="9976485" y="7254875"/>
                    <a:pt x="9495663" y="7254875"/>
                  </a:cubicBezTo>
                  <a:lnTo>
                    <a:pt x="870585" y="7254875"/>
                  </a:lnTo>
                  <a:cubicBezTo>
                    <a:pt x="389763" y="7254875"/>
                    <a:pt x="0" y="6865112"/>
                    <a:pt x="0" y="6384290"/>
                  </a:cubicBezTo>
                  <a:close/>
                </a:path>
              </a:pathLst>
            </a:custGeom>
            <a:solidFill>
              <a:srgbClr val="E2F9F0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59592" y="2722455"/>
            <a:ext cx="7101316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9592" y="3408788"/>
            <a:ext cx="7101316" cy="417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• Centralizes job and internship application details.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• Makes it easier to track each application's current status.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• Search, filters, and summary cards improve visibility.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• React components support a reusable and maintainable interface.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93269" y="2392642"/>
            <a:ext cx="7774667" cy="5441118"/>
            <a:chOff x="0" y="0"/>
            <a:chExt cx="10366223" cy="7254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66248" cy="7254875"/>
            </a:xfrm>
            <a:custGeom>
              <a:avLst/>
              <a:gdLst/>
              <a:ahLst/>
              <a:cxnLst/>
              <a:rect r="r" b="b" t="t" l="l"/>
              <a:pathLst>
                <a:path h="7254875" w="10366248">
                  <a:moveTo>
                    <a:pt x="0" y="870585"/>
                  </a:moveTo>
                  <a:cubicBezTo>
                    <a:pt x="0" y="389763"/>
                    <a:pt x="389763" y="0"/>
                    <a:pt x="870585" y="0"/>
                  </a:cubicBezTo>
                  <a:lnTo>
                    <a:pt x="9495663" y="0"/>
                  </a:lnTo>
                  <a:cubicBezTo>
                    <a:pt x="9976485" y="0"/>
                    <a:pt x="10366248" y="389763"/>
                    <a:pt x="10366248" y="870585"/>
                  </a:cubicBezTo>
                  <a:lnTo>
                    <a:pt x="10366248" y="6384290"/>
                  </a:lnTo>
                  <a:cubicBezTo>
                    <a:pt x="10366248" y="6865112"/>
                    <a:pt x="9976485" y="7254875"/>
                    <a:pt x="9495663" y="7254875"/>
                  </a:cubicBezTo>
                  <a:lnTo>
                    <a:pt x="870585" y="7254875"/>
                  </a:lnTo>
                  <a:cubicBezTo>
                    <a:pt x="389763" y="7254875"/>
                    <a:pt x="0" y="6865112"/>
                    <a:pt x="0" y="6384290"/>
                  </a:cubicBezTo>
                  <a:close/>
                </a:path>
              </a:pathLst>
            </a:custGeom>
            <a:solidFill>
              <a:srgbClr val="D6E1DE"/>
            </a:solidFill>
            <a:ln w="19065" cap="sq">
              <a:solidFill>
                <a:srgbClr val="D6E1DE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764258" y="2722455"/>
            <a:ext cx="7101316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Future Scope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64258" y="3408788"/>
            <a:ext cx="7101316" cy="417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• Add user authentication and cloud database storage.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• Send reminders for interviews and application deadlines.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• Add analytics for response rates and application trends.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627179"/>
                </a:solidFill>
                <a:latin typeface="Aptos"/>
                <a:ea typeface="Aptos"/>
                <a:cs typeface="Aptos"/>
                <a:sym typeface="Aptos"/>
              </a:rPr>
              <a:t>• Enable resume management and exportable reports.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0964" y="8391592"/>
            <a:ext cx="15474620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72027"/>
                </a:solidFill>
                <a:latin typeface="Aptos Bold"/>
                <a:ea typeface="Aptos Bold"/>
                <a:cs typeface="Aptos Bold"/>
                <a:sym typeface="Aptos Bold"/>
              </a:rPr>
              <a:t>The project can evolve from a local tracking tool into a personalized job-search management platform.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7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43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89460" y="1715843"/>
            <a:ext cx="1921745" cy="1921745"/>
            <a:chOff x="0" y="0"/>
            <a:chExt cx="2562327" cy="2562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307467"/>
                  </a:moveTo>
                  <a:cubicBezTo>
                    <a:pt x="0" y="137668"/>
                    <a:pt x="137668" y="0"/>
                    <a:pt x="307467" y="0"/>
                  </a:cubicBezTo>
                  <a:lnTo>
                    <a:pt x="2254885" y="0"/>
                  </a:lnTo>
                  <a:cubicBezTo>
                    <a:pt x="2424684" y="0"/>
                    <a:pt x="2562352" y="137668"/>
                    <a:pt x="2562352" y="307467"/>
                  </a:cubicBezTo>
                  <a:lnTo>
                    <a:pt x="2562352" y="2254885"/>
                  </a:lnTo>
                  <a:cubicBezTo>
                    <a:pt x="2562352" y="2424684"/>
                    <a:pt x="2424684" y="2562352"/>
                    <a:pt x="2254885" y="2562352"/>
                  </a:cubicBezTo>
                  <a:lnTo>
                    <a:pt x="307467" y="2562352"/>
                  </a:lnTo>
                  <a:cubicBezTo>
                    <a:pt x="137668" y="2562352"/>
                    <a:pt x="0" y="2424684"/>
                    <a:pt x="0" y="2254885"/>
                  </a:cubicBezTo>
                  <a:close/>
                </a:path>
              </a:pathLst>
            </a:custGeom>
            <a:solidFill>
              <a:srgbClr val="24333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44431" y="2470814"/>
            <a:ext cx="411804" cy="411804"/>
            <a:chOff x="0" y="0"/>
            <a:chExt cx="549072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9148" cy="549148"/>
            </a:xfrm>
            <a:custGeom>
              <a:avLst/>
              <a:gdLst/>
              <a:ahLst/>
              <a:cxnLst/>
              <a:rect r="r" b="b" t="t" l="l"/>
              <a:pathLst>
                <a:path h="549148" w="549148">
                  <a:moveTo>
                    <a:pt x="0" y="65913"/>
                  </a:moveTo>
                  <a:cubicBezTo>
                    <a:pt x="0" y="29464"/>
                    <a:pt x="29464" y="0"/>
                    <a:pt x="65913" y="0"/>
                  </a:cubicBezTo>
                  <a:lnTo>
                    <a:pt x="483235" y="0"/>
                  </a:lnTo>
                  <a:cubicBezTo>
                    <a:pt x="519684" y="0"/>
                    <a:pt x="549148" y="29464"/>
                    <a:pt x="549148" y="65913"/>
                  </a:cubicBezTo>
                  <a:lnTo>
                    <a:pt x="549148" y="483235"/>
                  </a:lnTo>
                  <a:cubicBezTo>
                    <a:pt x="549148" y="519684"/>
                    <a:pt x="519684" y="549148"/>
                    <a:pt x="483235" y="549148"/>
                  </a:cubicBezTo>
                  <a:lnTo>
                    <a:pt x="65913" y="549148"/>
                  </a:lnTo>
                  <a:cubicBezTo>
                    <a:pt x="29464" y="549021"/>
                    <a:pt x="0" y="519557"/>
                    <a:pt x="0" y="483235"/>
                  </a:cubicBezTo>
                  <a:close/>
                </a:path>
              </a:pathLst>
            </a:custGeom>
            <a:solidFill>
              <a:srgbClr val="10C88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854362" y="3431677"/>
            <a:ext cx="1098137" cy="1098137"/>
            <a:chOff x="0" y="0"/>
            <a:chExt cx="1464183" cy="1464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056" cy="1464056"/>
            </a:xfrm>
            <a:custGeom>
              <a:avLst/>
              <a:gdLst/>
              <a:ahLst/>
              <a:cxnLst/>
              <a:rect r="r" b="b" t="t" l="l"/>
              <a:pathLst>
                <a:path h="1464056" w="1464056">
                  <a:moveTo>
                    <a:pt x="0" y="175641"/>
                  </a:moveTo>
                  <a:cubicBezTo>
                    <a:pt x="0" y="78613"/>
                    <a:pt x="78613" y="0"/>
                    <a:pt x="175641" y="0"/>
                  </a:cubicBezTo>
                  <a:lnTo>
                    <a:pt x="1288415" y="0"/>
                  </a:lnTo>
                  <a:cubicBezTo>
                    <a:pt x="1385443" y="0"/>
                    <a:pt x="1464056" y="78613"/>
                    <a:pt x="1464056" y="175641"/>
                  </a:cubicBezTo>
                  <a:lnTo>
                    <a:pt x="1464056" y="1288415"/>
                  </a:lnTo>
                  <a:cubicBezTo>
                    <a:pt x="1464056" y="1385443"/>
                    <a:pt x="1385443" y="1464056"/>
                    <a:pt x="1288415" y="1464056"/>
                  </a:cubicBezTo>
                  <a:lnTo>
                    <a:pt x="175641" y="1464056"/>
                  </a:lnTo>
                  <a:cubicBezTo>
                    <a:pt x="78613" y="1464183"/>
                    <a:pt x="0" y="1385570"/>
                    <a:pt x="0" y="1288542"/>
                  </a:cubicBezTo>
                  <a:close/>
                </a:path>
              </a:pathLst>
            </a:custGeom>
            <a:solidFill>
              <a:srgbClr val="24333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53690" y="2891371"/>
            <a:ext cx="9572130" cy="120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62863" y="4461186"/>
            <a:ext cx="1372676" cy="96088"/>
            <a:chOff x="0" y="0"/>
            <a:chExt cx="1830235" cy="1281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0197" cy="128143"/>
            </a:xfrm>
            <a:custGeom>
              <a:avLst/>
              <a:gdLst/>
              <a:ahLst/>
              <a:cxnLst/>
              <a:rect r="r" b="b" t="t" l="l"/>
              <a:pathLst>
                <a:path h="128143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10C88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53690" y="4996891"/>
            <a:ext cx="9572130" cy="640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CEDCDC"/>
                </a:solidFill>
                <a:latin typeface="Aptos"/>
                <a:ea typeface="Aptos"/>
                <a:cs typeface="Aptos"/>
                <a:sym typeface="Aptos"/>
              </a:rPr>
              <a:t>Job Application Tracker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1151" y="5979890"/>
            <a:ext cx="9572130" cy="45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0C882"/>
                </a:solidFill>
                <a:latin typeface="Aptos Bold"/>
                <a:ea typeface="Aptos Bold"/>
                <a:cs typeface="Aptos Bold"/>
                <a:sym typeface="Aptos Bold"/>
              </a:rPr>
              <a:t>Web Programming Project  •  CS23531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1151" y="6940763"/>
            <a:ext cx="10670267" cy="45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CBEC0"/>
                </a:solidFill>
                <a:latin typeface="Aptos"/>
                <a:ea typeface="Aptos"/>
                <a:cs typeface="Aptos"/>
                <a:sym typeface="Aptos"/>
              </a:rPr>
              <a:t>Mohamed Ismail Fawaz K P  |  240701324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1151" y="8872023"/>
            <a:ext cx="270876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i="true">
                <a:solidFill>
                  <a:srgbClr val="ACBEC0"/>
                </a:solidFill>
                <a:latin typeface="Aptos Italics"/>
                <a:ea typeface="Aptos Italics"/>
                <a:cs typeface="Aptos Italics"/>
                <a:sym typeface="Aptos Italic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DAHYbv1bhNw</dc:identifier>
  <dcterms:modified xsi:type="dcterms:W3CDTF">2011-08-01T06:04:30Z</dcterms:modified>
  <cp:revision>1</cp:revision>
  <dc:title>Job_Application_Tracker_Academic_Presentation.pptx</dc:title>
</cp:coreProperties>
</file>